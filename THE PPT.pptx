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95740" y="1033766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8688136" y="219784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860425"/>
            <a:ext cx="8428990" cy="850900"/>
          </a:xfrm>
        </p:spPr>
        <p:txBody>
          <a:bodyPr/>
          <a:lstStyle/>
          <a:p>
            <a:r>
              <a:t>CONVERGE (कन्व्हर्ज)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8465" y="1318895"/>
            <a:ext cx="6910769" cy="554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t>Problem Statement ID – SIH-136</a:t>
            </a:r>
            <a:endParaRPr lang="en-US" dirty="0"/>
          </a:p>
          <a:p>
            <a:r>
              <a:t>Problem Statement Title – Converge: Public Innovation, Sandbox &amp; Accelerated Procurement Architecture</a:t>
            </a:r>
          </a:p>
          <a:p>
            <a:r>
              <a:t>Theme – Public Procurement &amp; Smart Governance</a:t>
            </a:r>
          </a:p>
          <a:p>
            <a:r>
              <a:t>PS Category – Software / Web Portal</a:t>
            </a:r>
          </a:p>
          <a:p>
            <a:r>
              <a:t>Team ID – SIH:S:062</a:t>
            </a:r>
          </a:p>
          <a:p>
            <a:r>
              <a:t>Team Name – PEGASUS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570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199" y="825360"/>
            <a:ext cx="1219200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/>
          <p:cNvSpPr/>
          <p:nvPr/>
        </p:nvSpPr>
        <p:spPr>
          <a:xfrm>
            <a:off x="329565" y="252096"/>
            <a:ext cx="3042285" cy="5265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IN" b="1" dirty="0">
                <a:solidFill>
                  <a:srgbClr val="0070C0"/>
                </a:solidFill>
              </a:rPr>
              <a:t>EGASUS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18275"/>
            <a:ext cx="2209120" cy="80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EA87494-E8AB-4576-8047-F24990FC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</a:t>
            </a:r>
          </a:p>
        </p:txBody>
      </p:sp>
      <p:pic>
        <p:nvPicPr>
          <p:cNvPr id="15363" name="Picture 15362" descr="converge_sih_combined_pretty_pastel_slide_178945771532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71600"/>
            <a:ext cx="112745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79C6323-6CB7-6B6F-A879-B9C0E5CB0762}"/>
              </a:ext>
            </a:extLst>
          </p:cNvPr>
          <p:cNvSpPr/>
          <p:nvPr/>
        </p:nvSpPr>
        <p:spPr>
          <a:xfrm>
            <a:off x="141310" y="79341"/>
            <a:ext cx="3042285" cy="5265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IN" b="1" dirty="0">
                <a:solidFill>
                  <a:srgbClr val="0070C0"/>
                </a:solidFill>
              </a:rPr>
              <a:t>EGASUS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C9D757-058A-2B5C-06F5-07C5FF8FD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11627"/>
              </p:ext>
            </p:extLst>
          </p:nvPr>
        </p:nvGraphicFramePr>
        <p:xfrm>
          <a:off x="301670" y="1095375"/>
          <a:ext cx="7060754" cy="5030788"/>
        </p:xfrm>
        <a:graphic>
          <a:graphicData uri="http://schemas.openxmlformats.org/drawingml/2006/table">
            <a:tbl>
              <a:tblPr/>
              <a:tblGrid>
                <a:gridCol w="3530377">
                  <a:extLst>
                    <a:ext uri="{9D8B030D-6E8A-4147-A177-3AD203B41FA5}">
                      <a16:colId xmlns:a16="http://schemas.microsoft.com/office/drawing/2014/main" val="1481821287"/>
                    </a:ext>
                  </a:extLst>
                </a:gridCol>
                <a:gridCol w="3530377">
                  <a:extLst>
                    <a:ext uri="{9D8B030D-6E8A-4147-A177-3AD203B41FA5}">
                      <a16:colId xmlns:a16="http://schemas.microsoft.com/office/drawing/2014/main" val="732794942"/>
                    </a:ext>
                  </a:extLst>
                </a:gridCol>
              </a:tblGrid>
              <a:tr h="353038">
                <a:tc>
                  <a:txBody>
                    <a:bodyPr/>
                    <a:lstStyle/>
                    <a:p>
                      <a:r>
                        <a:t>API / Technology Stack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Description &amp; Implementation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96743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React.js + TypeScript + Vite + TailwindCSS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Ultra-fast, responsive 3-column UI dashboard with dynamic category filters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391445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Node.js + Express REST API + JSON Database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High-performance backend API serving problems, pilots, and persistent preferences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452824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SHA-256 Cryptographic Hash Engine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Generates digital legal checksums ringfencing 100% of startup code &amp; AI model IP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376688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GFR Rule 149 Auto-Procurement Engine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Automates prior turnover &amp; experience waivers for verified DPIIT startups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60919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Sandbox Milestone Scorecard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Calculates real-world trial scores against pre-published target benchmarks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833839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r>
                        <a:t>Consortium Matchmaking Algorithm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Pairs agile AI startups with high-turnover OEM factories for joint bidding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02012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Civic Shorts &amp; Telemetry Feed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Citizen video challenge uploads, community upvoting &amp; department endorsement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78510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t>IndiaMART Master Category Index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16+ sector taxonomy covering industrial equipment, medtech, agri-drones &amp; IoT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7271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22ABE5F-0F54-71CE-19B6-D87E3F485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354" y="973594"/>
            <a:ext cx="1498063" cy="14980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1B2A7-D097-342A-5C96-D643B588C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780" y="947134"/>
            <a:ext cx="1498063" cy="15245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7C490F-7DC6-B223-595B-03F67CEE1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0354" y="2557694"/>
            <a:ext cx="2762119" cy="15536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19CF55-DCA5-0005-8483-4E2F9537E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927" y="4197423"/>
            <a:ext cx="4946072" cy="21565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  <a:p>
            <a:pPr/>
            <a:r>
              <a:t>Technical Feasibility: Zero native C++ compilation dependencies; runs cleanly on Node.js &amp; Vite with 100% TypeScript type safety.</a:t>
            </a:r>
          </a:p>
          <a:p>
            <a:pPr/>
            <a:r>
              <a:t>Legal &amp; GFR Compliance: Native integration of GFR-2017 Rule 149 waivers and Maharashtra State Startup Policy Sec 4.2.</a:t>
            </a:r>
          </a:p>
          <a:p>
            <a:pPr/>
            <a:r>
              <a:t>Consortium Viability: Overcomes ₹50 Cr turnover barriers by pairing AI startups with registered OEM manufacturers.</a:t>
            </a:r>
          </a:p>
          <a:p>
            <a:pPr/>
            <a:r>
              <a:t>Risk Mitigation: Pre-deployment Sandbox trials ensure public funds are only spent on verified, high-scoring solutions.</a:t>
            </a:r>
          </a:p>
          <a:p>
            <a:pPr/>
            <a:r>
              <a:t>Scalability: 1-click cross-department scale adoption allows municipal bodies to replicate solutions without redundant re-bidding.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58751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PEGASUS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84E4EE-4F30-05CB-BB41-2B64DC46B9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4" t="5886" r="4875" b="8977"/>
          <a:stretch>
            <a:fillRect/>
          </a:stretch>
        </p:blipFill>
        <p:spPr>
          <a:xfrm>
            <a:off x="0" y="1095375"/>
            <a:ext cx="6702199" cy="3361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1DEEBF-ADA1-9867-1A0D-F0B19060A3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77" r="3142" b="3958"/>
          <a:stretch>
            <a:fillRect/>
          </a:stretch>
        </p:blipFill>
        <p:spPr>
          <a:xfrm>
            <a:off x="6698614" y="1043459"/>
            <a:ext cx="5493385" cy="53105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A8DC9A-12CB-E412-154C-041C8DD3C1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11" t="6856" r="3114" b="25866"/>
          <a:stretch>
            <a:fillRect/>
          </a:stretch>
        </p:blipFill>
        <p:spPr>
          <a:xfrm>
            <a:off x="0" y="4397442"/>
            <a:ext cx="7852200" cy="24605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7345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PEGASUS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986A49-7C77-B914-8BB3-1F479F51E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1087" t="3679" r="-18034" b="4445"/>
          <a:stretch>
            <a:fillRect/>
          </a:stretch>
        </p:blipFill>
        <p:spPr>
          <a:xfrm>
            <a:off x="-1745672" y="1059580"/>
            <a:ext cx="15253854" cy="5296773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Impact on Startups: Eliminates 3-5 year turnover hurdles, provides SHA-256 IP protection, and opens direct government POs.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Impact on Government Departments: Replaces 100-page PDF tender friction with structured metrics, video briefs, and sandbox proof.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Impact on Citizens: Enables crowdsourcing of local civic challenges (potholes, crop diseases) with public upvoting and transparency.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Economic Value: Saves up to ₹34 Crore annually in reactive road repairs and recovers 45M liters/day in non-revenue water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6022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PEGASUS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E231E-C6EF-B6A5-4501-A4D4D5890759}"/>
              </a:ext>
            </a:extLst>
          </p:cNvPr>
          <p:cNvSpPr txBox="1"/>
          <p:nvPr/>
        </p:nvSpPr>
        <p:spPr>
          <a:xfrm>
            <a:off x="609600" y="1852412"/>
            <a:ext cx="107234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 sz="1300">
                <a:solidFill>
                  <a:srgbClr val="0F172A"/>
                </a:solidFill>
              </a:defRPr>
            </a:pPr>
            <a:r>
              <a:t>General Financial Rules (GFR 2017) Rule 149 &amp; 173 guidelines on public procurement &amp; startup waivers.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Maharashtra State Startup Policy 2018 Sec 4.2 — relaxed procurement and turnover exemptions.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DPIIT (Department for Promotion of Industry and Internal Trade) Startup India procurement directives.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Government e-Marketplace (GeM) Startup Runway &amp; L1 price comparison order frameworks.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Case Studies &amp; Benchmarks: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  - iDEX (Innovations for Defence Excellence) challenge-to-procurement framework.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  - Maharashtra Startup Week pilot sandbox execution model.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  - Smart India Hackathon SIH-136 Public Procurement &amp; Sandbox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416</Words>
  <Application>Microsoft Office PowerPoint</Application>
  <PresentationFormat>Widescreen</PresentationFormat>
  <Paragraphs>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MS PGothic</vt:lpstr>
      <vt:lpstr>Aptos</vt:lpstr>
      <vt:lpstr>Aptos Display</vt:lpstr>
      <vt:lpstr>Arial</vt:lpstr>
      <vt:lpstr>Calibri</vt:lpstr>
      <vt:lpstr>Garamond</vt:lpstr>
      <vt:lpstr>Sitka Display Semibold</vt:lpstr>
      <vt:lpstr>Times New Roman</vt:lpstr>
      <vt:lpstr>TradeGothic</vt:lpstr>
      <vt:lpstr>Wingdings</vt:lpstr>
      <vt:lpstr>Office Theme</vt:lpstr>
      <vt:lpstr>SMART INDIA HACKATHON 2025</vt:lpstr>
      <vt:lpstr>LUMINE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Ranjan Kumar</cp:lastModifiedBy>
  <cp:revision>156</cp:revision>
  <dcterms:created xsi:type="dcterms:W3CDTF">2013-12-12T18:46:00Z</dcterms:created>
  <dcterms:modified xsi:type="dcterms:W3CDTF">2025-10-04T12:07:54Z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36BBC6714BE649E99299FC4FD99F3FB1_12</vt:lpwstr>
  </property>
  <property fmtid="{D5CDD505-2E9C-101B-9397-08002B2CF9AE}" pid="3" name="KSOProductBuildVer">
    <vt:lpwstr>1033-12.2.0.22549</vt:lpwstr>
  </property>
</Properties>
</file>