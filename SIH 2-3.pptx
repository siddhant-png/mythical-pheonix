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>
        <p:scale>
          <a:sx n="69" d="100"/>
          <a:sy n="69" d="100"/>
        </p:scale>
        <p:origin x="756" y="6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10/4/2025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10/4/2025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10/4/2025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495740" y="1033766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59916"/>
          <a:stretch>
            <a:fillRect/>
          </a:stretch>
        </p:blipFill>
        <p:spPr>
          <a:xfrm>
            <a:off x="8688136" y="2197846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870" y="860425"/>
            <a:ext cx="8428990" cy="850900"/>
          </a:xfrm>
        </p:spPr>
        <p:txBody>
          <a:bodyPr/>
          <a:lstStyle/>
          <a:p>
            <a:r>
              <a:t>STARTUP PUBLIC PROCUREMENT MECHANISM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8465" y="1318895"/>
            <a:ext cx="6910769" cy="55410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SIH1742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Startup friendly public procurement mechanism that enables government departments to identify, pilot, procure, and scale innovative solutions from eligible startups</a:t>
            </a:r>
            <a:r>
              <a:rPr lang="en-US" sz="2400" dirty="0">
                <a:latin typeface="Aptos" panose="020B0004020202020204" pitchFamily="34" charset="0"/>
              </a:rPr>
              <a:t/>
            </a:r>
            <a:r>
              <a:rPr lang="en-US" sz="2400" b="1" dirty="0">
                <a:latin typeface="+mn-lt"/>
              </a:rPr>
              <a:t/>
            </a:r>
            <a:endParaRPr lang="en-US" altLang="en-US" sz="2400" b="1" dirty="0">
              <a:latin typeface="+mn-lt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– Smart Governance &amp; Startup Innovation</a:t>
            </a:r>
            <a:r>
              <a:rPr lang="en-I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r>
              <a:rPr lang="en-I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r>
              <a:rPr lang="en-US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- SIH:S:062</a:t>
            </a:r>
            <a:r>
              <a:rPr lang="en-I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r>
              <a:rPr lang="en-I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PEGASUS</a:t>
            </a:r>
            <a:r>
              <a:rPr lang="en-IN" alt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570" y="0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54199" y="825360"/>
            <a:ext cx="12192001" cy="5847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20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/>
          <p:cNvSpPr/>
          <p:nvPr/>
        </p:nvSpPr>
        <p:spPr>
          <a:xfrm>
            <a:off x="329565" y="252096"/>
            <a:ext cx="3042285" cy="52656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</a:t>
            </a:r>
            <a:r>
              <a:rPr lang="en-IN" b="1" dirty="0">
                <a:solidFill>
                  <a:srgbClr val="0070C0"/>
                </a:solidFill>
              </a:rPr>
              <a:t>EGASUS</a:t>
            </a: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18275"/>
            <a:ext cx="2209120" cy="807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CEA87494-E8AB-4576-8047-F24990FC8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INNO-PROCURE PLATFORM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5994A1A-1DC7-A158-2062-C8930AF9C4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31" t="6657" r="5232" b="6687"/>
          <a:stretch>
            <a:fillRect/>
          </a:stretch>
        </p:blipFill>
        <p:spPr>
          <a:xfrm>
            <a:off x="5692877" y="1238346"/>
            <a:ext cx="6499124" cy="51180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28F11B-FCC5-B4BA-6ECC-16826535AED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97" t="6021" r="3372" b="7338"/>
          <a:stretch>
            <a:fillRect/>
          </a:stretch>
        </p:blipFill>
        <p:spPr>
          <a:xfrm>
            <a:off x="-1" y="1546657"/>
            <a:ext cx="6096000" cy="47398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079C6323-6CB7-6B6F-A879-B9C0E5CB0762}"/>
              </a:ext>
            </a:extLst>
          </p:cNvPr>
          <p:cNvSpPr/>
          <p:nvPr/>
        </p:nvSpPr>
        <p:spPr>
          <a:xfrm>
            <a:off x="141310" y="79341"/>
            <a:ext cx="3042285" cy="52656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P</a:t>
            </a:r>
            <a:r>
              <a:rPr lang="en-IN" b="1" dirty="0">
                <a:solidFill>
                  <a:srgbClr val="0070C0"/>
                </a:solidFill>
              </a:rPr>
              <a:t>EGASUS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0C9D757-058A-2B5C-06F5-07C5FF8FD8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911627"/>
              </p:ext>
            </p:extLst>
          </p:nvPr>
        </p:nvGraphicFramePr>
        <p:xfrm>
          <a:off x="18288000" y="1095375"/>
          <a:ext cx="7060754" cy="5030788"/>
        </p:xfrm>
        <a:graphic>
          <a:graphicData uri="http://schemas.openxmlformats.org/drawingml/2006/table">
            <a:tbl>
              <a:tblPr/>
              <a:tblGrid>
                <a:gridCol w="3530377">
                  <a:extLst>
                    <a:ext uri="{9D8B030D-6E8A-4147-A177-3AD203B41FA5}">
                      <a16:colId xmlns:a16="http://schemas.microsoft.com/office/drawing/2014/main" val="1481821287"/>
                    </a:ext>
                  </a:extLst>
                </a:gridCol>
                <a:gridCol w="3530377">
                  <a:extLst>
                    <a:ext uri="{9D8B030D-6E8A-4147-A177-3AD203B41FA5}">
                      <a16:colId xmlns:a16="http://schemas.microsoft.com/office/drawing/2014/main" val="732794942"/>
                    </a:ext>
                  </a:extLst>
                </a:gridCol>
              </a:tblGrid>
              <a:tr h="353038">
                <a:tc>
                  <a:txBody>
                    <a:bodyPr/>
                    <a:lstStyle/>
                    <a:p>
                      <a:r>
                        <a:rPr sz="1400"/>
                        <a:t>API / Platform Layer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Technical Role &amp; Workflow Function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4096743"/>
                  </a:ext>
                </a:extLst>
              </a:tr>
              <a:tr h="617816">
                <a:tc>
                  <a:txBody>
                    <a:bodyPr/>
                    <a:lstStyle/>
                    <a:p>
                      <a:r>
                        <a:rPr sz="1300"/>
                        <a:t>DPIIT Startup India API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Automated startup recognition verification &amp; eligibility screening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391445"/>
                  </a:ext>
                </a:extLst>
              </a:tr>
              <a:tr h="617816">
                <a:tc>
                  <a:txBody>
                    <a:bodyPr/>
                    <a:lstStyle/>
                    <a:p>
                      <a:r>
                        <a:rPr sz="1300"/>
                        <a:t>Government e-Marketplace (GeM) API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Seamless onboarding &amp; direct procurement cataloging for validated pilot solutions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2452824"/>
                  </a:ext>
                </a:extLst>
              </a:tr>
              <a:tr h="617816">
                <a:tc>
                  <a:txBody>
                    <a:bodyPr/>
                    <a:lstStyle/>
                    <a:p>
                      <a:r>
                        <a:rPr sz="1300"/>
                        <a:t>DigiLocker / GSTN / MCA API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Instant legal verification of startup incorporation, compliance, &amp; tax filings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4376688"/>
                  </a:ext>
                </a:extLst>
              </a:tr>
              <a:tr h="617816">
                <a:tc>
                  <a:txBody>
                    <a:bodyPr/>
                    <a:lstStyle/>
                    <a:p>
                      <a:r>
                        <a:rPr sz="1300"/>
                        <a:t>PFMS / Bank Escrow API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Milestone-linked automated payment release &amp; SLA-triggered payout dispatch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160919"/>
                  </a:ext>
                </a:extLst>
              </a:tr>
              <a:tr h="617816">
                <a:tc>
                  <a:txBody>
                    <a:bodyPr/>
                    <a:lstStyle/>
                    <a:p>
                      <a:r>
                        <a:rPr sz="1300"/>
                        <a:t>OpenAI / NLP Matching Engine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AI semantic matching engine to pair departmental problem statements with startup tech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8833839"/>
                  </a:ext>
                </a:extLst>
              </a:tr>
              <a:tr h="353038">
                <a:tc>
                  <a:txBody>
                    <a:bodyPr/>
                    <a:lstStyle/>
                    <a:p>
                      <a:r>
                        <a:rPr sz="1300"/>
                        <a:t>Auth0 / Aadhaar eKYC API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Multi-factor authentication &amp; role-based access for departments and evaluators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6102012"/>
                  </a:ext>
                </a:extLst>
              </a:tr>
              <a:tr h="617816">
                <a:tc>
                  <a:txBody>
                    <a:bodyPr/>
                    <a:lstStyle/>
                    <a:p>
                      <a:r>
                        <a:rPr sz="1300"/>
                        <a:t>Grafana / D3.js Analytics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Real-time pilot execution dashboard, SLA tracking, &amp; performance analytics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778510"/>
                  </a:ext>
                </a:extLst>
              </a:tr>
              <a:tr h="617816">
                <a:tc>
                  <a:txBody>
                    <a:bodyPr/>
                    <a:lstStyle/>
                    <a:p>
                      <a:r>
                        <a:rPr sz="1300"/>
                        <a:t>Hyperledger / Audit Trail Ledger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300"/>
                        <a:t>Tamper-proof immutable ledger for evaluation scores, IP terms, &amp; milestone sign-offs</a:t>
                      </a:r>
                    </a:p>
                  </a:txBody>
                  <a:tcPr marL="88259" marR="88259" marT="44130" marB="4413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272713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F22ABE5F-0F54-71CE-19B6-D87E3F4858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0354" y="973594"/>
            <a:ext cx="1498063" cy="14980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261B2A7-D097-342A-5C96-D643B588C3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1780" y="947134"/>
            <a:ext cx="1498063" cy="152452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A7C490F-7DC6-B223-595B-03F67CEE1A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0354" y="2557694"/>
            <a:ext cx="2762119" cy="155369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219CF55-DCA5-0005-8483-4E2F9537E1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1371600"/>
            <a:ext cx="11274552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773" y="252246"/>
            <a:ext cx="158751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PEGASUS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-27493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84E4EE-4F30-05CB-BB41-2B64DC46B9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74" t="5886" r="4875" b="8977"/>
          <a:stretch>
            <a:fillRect/>
          </a:stretch>
        </p:blipFill>
        <p:spPr>
          <a:xfrm>
            <a:off x="0" y="1095375"/>
            <a:ext cx="6702199" cy="33617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1DEEBF-ADA1-9867-1A0D-F0B19060A35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677" r="3142" b="3958"/>
          <a:stretch>
            <a:fillRect/>
          </a:stretch>
        </p:blipFill>
        <p:spPr>
          <a:xfrm>
            <a:off x="6698614" y="1043459"/>
            <a:ext cx="5493385" cy="53105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3A8DC9A-12CB-E412-154C-041C8DD3C14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311" t="6856" r="3114" b="25866"/>
          <a:stretch>
            <a:fillRect/>
          </a:stretch>
        </p:blipFill>
        <p:spPr>
          <a:xfrm>
            <a:off x="0" y="4397442"/>
            <a:ext cx="7852200" cy="24605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773" y="252246"/>
            <a:ext cx="173455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PEGASUS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8986A49-7C77-B914-8BB3-1F479F51E1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21087" t="3679" r="-18034" b="4445"/>
          <a:stretch>
            <a:fillRect/>
          </a:stretch>
        </p:blipFill>
        <p:spPr>
          <a:xfrm>
            <a:off x="-1745672" y="1059580"/>
            <a:ext cx="15253854" cy="52967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/>
          <p:cNvSpPr/>
          <p:nvPr/>
        </p:nvSpPr>
        <p:spPr>
          <a:xfrm>
            <a:off x="329773" y="252246"/>
            <a:ext cx="160226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PEGASUS</a:t>
            </a:r>
            <a:endParaRPr lang="en-IN" b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7E231E-C6EF-B6A5-4501-A4D4D5890759}"/>
              </a:ext>
            </a:extLst>
          </p:cNvPr>
          <p:cNvSpPr txBox="1"/>
          <p:nvPr/>
        </p:nvSpPr>
        <p:spPr>
          <a:xfrm>
            <a:off x="609600" y="1852412"/>
            <a:ext cx="1072341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sz="1600" b="1">
                <a:latin typeface="Aptos Display"/>
              </a:rPr>
              <a:t>DPIIT &amp; Ministry of Commerce Guidelines</a:t>
            </a:r>
            <a:r>
              <a:rPr sz="1600" b="0">
                <a:latin typeface="Aptos Display"/>
              </a:rPr>
              <a:t> - Public Procurement (Preference to Make in India) &amp; Startup Innovation Procurement Frameworks.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sz="1600" b="1">
                <a:latin typeface="Aptos Display"/>
              </a:rPr>
              <a:t>General Financial Rules (GFR 2017)</a:t>
            </a:r>
            <a:r>
              <a:rPr sz="1600" b="0">
                <a:latin typeface="Aptos Display"/>
              </a:rPr>
              <a:t> - Rule 194 &amp; innovation procurement clauses for pilot testing &amp; sandbox execution.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sz="1600" b="1">
                <a:latin typeface="Aptos Display"/>
              </a:rPr>
              <a:t>NITI Aayog Reports</a:t>
            </a:r>
            <a:r>
              <a:rPr sz="1600" b="0">
                <a:latin typeface="Aptos Display"/>
              </a:rPr>
              <a:t> - "Unlocking Startup Potential in Public Procurement" &amp; Technology Readiness Level (TRL) benchmarks.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sz="1600" b="1">
                <a:latin typeface="Aptos Display"/>
              </a:rPr>
              <a:t>Global GovTech Case Studies: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sz="1600" b="1">
                <a:latin typeface="Aptos Display"/>
              </a:rPr>
              <a:t>UK G-Cloud &amp; GovTech Sandbox framework for early-stage vendor onboarding.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sz="1600" b="1">
                <a:latin typeface="Aptos Display"/>
              </a:rPr>
              <a:t>Singapore GovTech Procurement &amp; Israel Innovation Authority public pilot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sz="1600" b="1">
                <a:latin typeface="Aptos Display"/>
              </a:rPr>
              <a:t>GeM &amp; Data Security Standards</a:t>
            </a:r>
            <a:r>
              <a:rPr sz="1600" b="0">
                <a:latin typeface="Aptos Display"/>
              </a:rPr>
              <a:t> - MeitY cybersecurity guidelines &amp; DPDP Act 2023 compliance for public sector platforms.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  <a:sym typeface="Calibri" panose="020F0502020204030204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 panose="020F0502020204030204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 panose="020F0502020204030204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416</Words>
  <Application>Microsoft Office PowerPoint</Application>
  <PresentationFormat>Widescreen</PresentationFormat>
  <Paragraphs>73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MS PGothic</vt:lpstr>
      <vt:lpstr>Aptos</vt:lpstr>
      <vt:lpstr>Aptos Display</vt:lpstr>
      <vt:lpstr>Arial</vt:lpstr>
      <vt:lpstr>Calibri</vt:lpstr>
      <vt:lpstr>Garamond</vt:lpstr>
      <vt:lpstr>Sitka Display Semibold</vt:lpstr>
      <vt:lpstr>Times New Roman</vt:lpstr>
      <vt:lpstr>TradeGothic</vt:lpstr>
      <vt:lpstr>Wingdings</vt:lpstr>
      <vt:lpstr>Office Theme</vt:lpstr>
      <vt:lpstr>SMART INDIA HACKATHON 2025</vt:lpstr>
      <vt:lpstr>LUMINE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Ranjan Kumar</cp:lastModifiedBy>
  <cp:revision>156</cp:revision>
  <dcterms:created xsi:type="dcterms:W3CDTF">2013-12-12T18:46:00Z</dcterms:created>
  <dcterms:modified xsi:type="dcterms:W3CDTF">2025-10-04T12:07:54Z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36BBC6714BE649E99299FC4FD99F3FB1_12</vt:lpwstr>
  </property>
  <property fmtid="{D5CDD505-2E9C-101B-9397-08002B2CF9AE}" pid="3" name="KSOProductBuildVer">
    <vt:lpwstr>1033-12.2.0.22549</vt:lpwstr>
  </property>
</Properties>
</file>